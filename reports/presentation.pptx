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NST DVA  ·  CAPSTONE 2  ·  SECTION-A  ·  TEAM G12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96167"/>
                </a:solidFill>
                <a:latin typeface="Calibri"/>
              </a:rPr>
              <a:t>DeliverIQ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Severity Reality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Disentangling true accident severity from congestion,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time-of-day, and location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ANALYZING 95K US ROAD ACCIDENTS  ·  2016–2023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349240"/>
            <a:ext cx="10332720" cy="2286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Newton School of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Team: Shivam · Satyam · Keshav · Mohit · Prachee · Rishita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Mentor: &lt;fill&gt;   ·   Submission: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4406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GitHub:  github.com/shiavm006/Section-A_G12_DeliverIQ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7607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Tableau:  public.tableau.com/.../RoadAccidentDataofUSA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0350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Project Lead: Shivam Mittal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02  ·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libri"/>
              </a:rPr>
              <a:t>Public severity data is widely used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96167"/>
                </a:solidFill>
                <a:latin typeface="Calibri"/>
              </a:rPr>
              <a:t>but it measures the wrong 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WHAT'S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■  </a:t>
            </a:r>
            <a:r>
              <a:rPr sz="1300">
                <a:solidFill>
                  <a:srgbClr val="1E293B"/>
                </a:solidFill>
                <a:latin typeface="Calibri"/>
              </a:rPr>
              <a:t>The most common severity field measures traffic-flow impact (short delay → long delay), not crash physical severity.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■  </a:t>
            </a:r>
            <a:r>
              <a:rPr sz="1300">
                <a:solidFill>
                  <a:srgbClr val="1E293B"/>
                </a:solidFill>
                <a:latin typeface="Calibri"/>
              </a:rPr>
              <a:t>A fender-bender at rush hour can register Severity 4. A fatal crash on a quiet road can register Severity 1.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■  </a:t>
            </a:r>
            <a:r>
              <a:rPr sz="1300">
                <a:solidFill>
                  <a:srgbClr val="1E293B"/>
                </a:solidFill>
                <a:latin typeface="Calibri"/>
              </a:rPr>
              <a:t>Insurers, DOTs, and logistics planners use this field directly in pricing models, capital plans, and routing — silently absorbing the bias.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377440"/>
            <a:ext cx="5303520" cy="3657600"/>
          </a:xfrm>
          <a:prstGeom prst="rect">
            <a:avLst/>
          </a:prstGeom>
          <a:solidFill>
            <a:srgbClr val="1E2761"/>
          </a:solidFill>
          <a:ln w="63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606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OUR CORE BUSINESS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01752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How much of what is labeled "severe" in public US accident data is genuinely severe — and how should insurers, DOTs, and logistics planners adjust their decisions to use a bias-corrected signal?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96167"/>
                </a:solidFill>
                <a:latin typeface="Calibri"/>
              </a:rPr>
              <a:t>→  Decision: down-weight raw severity in pricing,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5760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96167"/>
                </a:solidFill>
                <a:latin typeface="Calibri"/>
              </a:rPr>
              <a:t>    capital allocation, and corridor routing.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03  · 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From 7.7M raw rows to a 95K balanced sample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2697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ORIGINAL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423160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7.7M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raw Kaggle dataset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2011680"/>
            <a:ext cx="2697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14884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WORKING SAMPLE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514600"/>
            <a:ext cx="2423160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96167"/>
                </a:solidFill>
                <a:latin typeface="Calibri"/>
              </a:rPr>
              <a:t>95,607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88036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balanced across Sev 1–4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2697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14884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14600"/>
            <a:ext cx="2423160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88036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incl. 13 derived features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2011680"/>
            <a:ext cx="2697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214884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STATES COVERED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514600"/>
            <a:ext cx="2423160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88036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5,558 cities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CLEANING PIPELINE  (notebooks/02_cleaning.ipynb)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977639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■  </a:t>
            </a:r>
            <a:r>
              <a:rPr sz="1200">
                <a:solidFill>
                  <a:srgbClr val="1E293B"/>
                </a:solidFill>
                <a:latin typeface="Calibri"/>
              </a:rPr>
              <a:t>Drop high-null + zero-variance columns (End_Lat/Lng, Country, Turning_Loop)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■  </a:t>
            </a:r>
            <a:r>
              <a:rPr sz="1200">
                <a:solidFill>
                  <a:srgbClr val="1E293B"/>
                </a:solidFill>
                <a:latin typeface="Calibri"/>
              </a:rPr>
              <a:t>Validate geographic bounds (lat 24–50, lng −125 to −66)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■  </a:t>
            </a:r>
            <a:r>
              <a:rPr sz="1200">
                <a:solidFill>
                  <a:srgbClr val="1E293B"/>
                </a:solidFill>
                <a:latin typeface="Calibri"/>
              </a:rPr>
              <a:t>Cap Distance_mi outliers at 99th percentile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■  </a:t>
            </a:r>
            <a:r>
              <a:rPr sz="1200">
                <a:solidFill>
                  <a:srgbClr val="1E293B"/>
                </a:solidFill>
                <a:latin typeface="Calibri"/>
              </a:rPr>
              <a:t>Context-aware imputation (median by State + Month + Hour)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■  </a:t>
            </a:r>
            <a:r>
              <a:rPr sz="1200">
                <a:solidFill>
                  <a:srgbClr val="1E293B"/>
                </a:solidFill>
                <a:latin typeface="Calibri"/>
              </a:rPr>
              <a:t>Cast booleans to int for Tableau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611880"/>
            <a:ext cx="5303520" cy="2743200"/>
          </a:xfrm>
          <a:prstGeom prst="rect">
            <a:avLst/>
          </a:prstGeom>
          <a:solidFill>
            <a:srgbClr val="F1F5F9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7490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KEY DERIVED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160520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Severity_Label · Weather_Category · State_Region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Time_of_Day · Season · Is_Rush_Hour · Is_Weekend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Duration_min · Road_Feature_Count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Is True Severe = Sev=4 AND Distance ≥ 0.5 mi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04  ·  KPI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15 decision-relevant KPIs across 3 dashboards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65760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65760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D1 — Severity Reality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the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918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Total Incidents (95,607)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Critical Accidents (18,023)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True Severe Accidents (9,155)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Avg Duration Severe (1,829 m)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Severe Distance (24,415 mi)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65760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3657600" cy="4572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74519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D2 — When Risk Strikes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the diagnosis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697480"/>
            <a:ext cx="32918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96167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Worst Season (Winter)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96167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Peak Risk Hour (12 AM)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96167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Weekend vs Weekday Δ (+0.34)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96167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Night Sev 3+ Share (8.42%)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96167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Riskiest Weather (Drifting Snow)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828800"/>
            <a:ext cx="365760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828800"/>
            <a:ext cx="365760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874519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D3 — Where &amp; 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the cause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697480"/>
            <a:ext cx="32918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Top State by Volume (CA · 8,780)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Top State by Severity (WV)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Junction Severity (+28.8%)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Signal Drop (−62.1%)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Cities Tracked (5,558)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05  ·  KEY EDA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Five observations that reframe the data</a:t>
            </a:r>
          </a:p>
        </p:txBody>
      </p:sp>
      <p:pic>
        <p:nvPicPr>
          <p:cNvPr id="5" name="Picture 4" descr="severity_rush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20240"/>
            <a:ext cx="484632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Severity proportions: Rush Hour vs Non-Rush — barely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6126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■  </a:t>
            </a:r>
            <a:r>
              <a:rPr sz="1300">
                <a:solidFill>
                  <a:srgbClr val="1E293B"/>
                </a:solidFill>
                <a:latin typeface="Calibri"/>
              </a:rPr>
              <a:t>Severity-2 dominance dropped after balanced sampling — every tier now has enough N for cross-tier comparison.</a:t>
            </a:r>
          </a:p>
          <a:p>
            <a:pPr algn="l">
              <a:lnSpc>
                <a:spcPct val="140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■  </a:t>
            </a:r>
            <a:r>
              <a:rPr sz="1300">
                <a:solidFill>
                  <a:srgbClr val="1E293B"/>
                </a:solidFill>
                <a:latin typeface="Calibri"/>
              </a:rPr>
              <a:t>Volume peaks at 5 PM rush hour — but per-accident severity is barely different between rush and non-rush.</a:t>
            </a:r>
          </a:p>
          <a:p>
            <a:pPr algn="l">
              <a:lnSpc>
                <a:spcPct val="140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■  </a:t>
            </a:r>
            <a:r>
              <a:rPr sz="1300">
                <a:solidFill>
                  <a:srgbClr val="1E293B"/>
                </a:solidFill>
                <a:latin typeface="Calibri"/>
              </a:rPr>
              <a:t>Weekday volume rises Tue–Wed, falls weekend. Severity does not follow the same curve.</a:t>
            </a:r>
          </a:p>
          <a:p>
            <a:pPr algn="l">
              <a:lnSpc>
                <a:spcPct val="140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■  </a:t>
            </a:r>
            <a:r>
              <a:rPr sz="1300">
                <a:solidFill>
                  <a:srgbClr val="1E293B"/>
                </a:solidFill>
                <a:latin typeface="Calibri"/>
              </a:rPr>
              <a:t>Top-volume state: CA (8,780). Top-severity state: WV — geography differs once bias is corrected.</a:t>
            </a:r>
          </a:p>
          <a:p>
            <a:pPr algn="l">
              <a:lnSpc>
                <a:spcPct val="140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■  </a:t>
            </a:r>
            <a:r>
              <a:rPr sz="1300">
                <a:solidFill>
                  <a:srgbClr val="1E293B"/>
                </a:solidFill>
                <a:latin typeface="Calibri"/>
              </a:rPr>
              <a:t>Most accidents happen in fair weather. Severe accidents are no exception.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06  ·  ADVANCED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Statistical tests aligned with the bias hypothesis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109728" cy="1783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Test 1 — Congestion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68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Method:  Chi-square (Rush Hour × Severity)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346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Significant by N, but proportions barely shift. Rush-hour volume is NOT the dominant severity driver.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920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920240"/>
            <a:ext cx="109728" cy="1783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Test 2 — Duration × Severity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468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Method:  Kruskal-Wallis H (non-parametric)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Median duration rises monotonically: Sev 1 ≈ 30 min → Sev 4 ≈ 210 min. Validates True-Severe definition.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109728" cy="1783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Test 3 — Weather ×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389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Method:  Chi-square (top 5 weather × Sev)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754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Statistically significant but small effect size. Weather is NOT the primary driver of severity.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8404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840480"/>
            <a:ext cx="109728" cy="1783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Test 4 — Location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Method:  State × Severity cross-tab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754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WV, PA, MD, NC over-represented in Sev 3+4. Reporting bias is real and must be corrected.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852160"/>
            <a:ext cx="11109960" cy="594360"/>
          </a:xfrm>
          <a:prstGeom prst="rect">
            <a:avLst/>
          </a:prstGeom>
          <a:solidFill>
            <a:srgbClr val="1E2761"/>
          </a:solidFill>
          <a:ln w="63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943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Net finding:  Severity in this dataset is partly real, partly noise. The True-Severe filter (Sev 4 + Dist ≥ 0.5 mi) cleanly separates them.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07  ·  TABLEAU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Three dashboards: What → When → Where &amp;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657600" cy="365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Severity Reality Check</a:t>
            </a:r>
          </a:p>
        </p:txBody>
      </p:sp>
      <p:pic>
        <p:nvPicPr>
          <p:cNvPr id="8" name="Picture 7" descr="dashbo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365760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True Severe = 9,155 of 18,023  (~51%)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34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E293B"/>
                </a:solidFill>
                <a:latin typeface="Calibri"/>
              </a:rPr>
              <a:t>Half of "severe" is congestion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46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THE HOOK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783080"/>
            <a:ext cx="3657600" cy="36576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828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When Risk Strikes</a:t>
            </a:r>
          </a:p>
        </p:txBody>
      </p:sp>
      <p:pic>
        <p:nvPicPr>
          <p:cNvPr id="15" name="Picture 14" descr="dashboard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94560"/>
            <a:ext cx="3657600" cy="1828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43400" y="4160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6167"/>
                </a:solidFill>
                <a:latin typeface="Calibri"/>
              </a:rPr>
              <a:t>Peak Risk Hour: 12 AM   ·   Worst Season: Winter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434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E293B"/>
                </a:solidFill>
                <a:latin typeface="Calibri"/>
              </a:rPr>
              <a:t>Risk peaks at midnight, not rush hour.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846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THE DIAGNOSIS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783080"/>
            <a:ext cx="3657600" cy="365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828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Where &amp; Why</a:t>
            </a:r>
          </a:p>
        </p:txBody>
      </p:sp>
      <p:pic>
        <p:nvPicPr>
          <p:cNvPr id="22" name="Picture 21" descr="dashboard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194560"/>
            <a:ext cx="3657600" cy="1828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38160" y="4160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Junction +28.8%   ·   Signal −62.1%   ·   Top: WV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434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E293B"/>
                </a:solidFill>
                <a:latin typeface="Calibri"/>
              </a:rPr>
              <a:t>Infrastructure has measurable lifts.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846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THE CAUSE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Interactive filters: Rush Hour · Severity · Visibility Bucket · Time of Day  (across 30+ worksheets)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08  · 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Five actions, each tied to an insight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106424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92807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STAKEHOLDER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9280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EXPECTED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77439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96167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23160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Insurer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423160"/>
            <a:ext cx="502920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Discount publicly-reported Severity 4 by ~50%; switch to True-Severe-based pricing.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23160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1E293B"/>
                </a:solidFill>
                <a:latin typeface="Calibri"/>
              </a:rPr>
              <a:t>Mis-priced urban-policy margin recovered.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0896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54679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96167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200400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State DOT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200400"/>
            <a:ext cx="502920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Prioritize signal installations at top junction hotspots (D3).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3200400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1E293B"/>
                </a:solidFill>
                <a:latin typeface="Calibri"/>
              </a:rPr>
              <a:t>~62% severity reduction at signal-equipped sites; per-installation ROI.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96167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977639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Logistics fleet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3977639"/>
            <a:ext cx="502920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Re-rank corridors by True-Severe Index; shift dispatch off PA/WV winter night windows.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977639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1E293B"/>
                </a:solidFill>
                <a:latin typeface="Calibri"/>
              </a:rPr>
              <a:t>Lower expected claim frequency / severity per million miles.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66344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09159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96167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4754879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Federal grants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4754879"/>
            <a:ext cx="502920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Reweight per-state safety allocation using True-Severe counts, not raw volume.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4754879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1E293B"/>
                </a:solidFill>
                <a:latin typeface="Calibri"/>
              </a:rPr>
              <a:t>Capital tracks real severity, not reporting frequency.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40679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486399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96167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532119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Ride-share / Fleet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5532119"/>
            <a:ext cx="502920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Adjust state-level driver pay &amp; rest-cycle by True-Severe density.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5532119"/>
            <a:ext cx="23774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1E293B"/>
                </a:solidFill>
                <a:latin typeface="Calibri"/>
              </a:rPr>
              <a:t>Driver-safety alignment with actual risk; lower carrier liability.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09  ·  IMPACT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Why this work pays off — directional estimates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657600" cy="2286000"/>
          </a:xfrm>
          <a:prstGeom prst="rect">
            <a:avLst/>
          </a:prstGeom>
          <a:solidFill>
            <a:srgbClr val="1E2761"/>
          </a:solidFill>
          <a:ln w="63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INSURER  ·  REC 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96167"/>
                </a:solidFill>
                <a:latin typeface="Calibri"/>
              </a:rPr>
              <a:t>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of Severity-4 in pricing models is over-weighted; bias-correction unlocks ~$100M risk-adj premium reallocation per $10B book.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828800"/>
            <a:ext cx="36576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STATE DOT  ·  REC #2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E2761"/>
                </a:solidFill>
                <a:latin typeface="Calibri"/>
              </a:rPr>
              <a:t>−62%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severity drop at locations with traffic signals vs. without — quantifies per-installation infrastructure ROI.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828800"/>
            <a:ext cx="36576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011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FLEETS  ·  REC #3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3774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E2761"/>
                </a:solidFill>
                <a:latin typeface="Calibri"/>
              </a:rPr>
              <a:t>5–10%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expected reduction in severe-corridor exposure when routing on True-Severe Index instead of raw volume.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WHY ACT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00600"/>
            <a:ext cx="110642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■  </a:t>
            </a:r>
            <a:r>
              <a:rPr sz="1200">
                <a:solidFill>
                  <a:srgbClr val="1E293B"/>
                </a:solidFill>
                <a:latin typeface="Calibri"/>
              </a:rPr>
              <a:t>Real-time accident APIs increasingly feed pricing engines — bias compounds quickly.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■  </a:t>
            </a:r>
            <a:r>
              <a:rPr sz="1200">
                <a:solidFill>
                  <a:srgbClr val="1E293B"/>
                </a:solidFill>
                <a:latin typeface="Calibri"/>
              </a:rPr>
              <a:t>Post-COVID vehicle-miles-traveled have rebounded; more decisions flow through the same biased input.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■  </a:t>
            </a:r>
            <a:r>
              <a:rPr sz="1200">
                <a:solidFill>
                  <a:srgbClr val="1E293B"/>
                </a:solidFill>
                <a:latin typeface="Calibri"/>
              </a:rPr>
              <a:t>Signal Drop is one of the most cost-effective infrastructure levers — and the data quantifies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10  ·  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Honesty about what this analysis can and cannot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Severity is a flow-impact label, not a crash-injury label — True Severe is a proxy.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0.5-mi threshold is defensible but not absolute; sensitivity tested at 0.25 and 1.0 mi.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All findings are correlational, not causal.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API coverage varies by state; 2020+ volume spike is partly artefact.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No injury / fatality outcomes available in this dataset.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Balanced sample changes base rates — most KPIs use ratios to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Join FARS / state crash records to validate True-Severe against real injury data.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Add quasi-experimental causal layer for Signal Drop estimate.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Wrap corrected severity index as a real-time API for fleets and insurers.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Train a gradient-boosted classifier on incoming reports (predict True Severe).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Geospatial drill-down map (Mapbox / Leaflet) for DOT use.</a:t>
            </a:r>
          </a:p>
          <a:p>
            <a:pPr algn="l">
              <a:lnSpc>
                <a:spcPct val="135000"/>
              </a:lnSpc>
            </a:pPr>
            <a:r>
              <a:rPr sz="1100" b="1">
                <a:solidFill>
                  <a:srgbClr val="1E2761"/>
                </a:solidFill>
                <a:latin typeface="Calibri"/>
              </a:rPr>
              <a:t>■  </a:t>
            </a:r>
            <a:r>
              <a:rPr sz="1100">
                <a:solidFill>
                  <a:srgbClr val="1E293B"/>
                </a:solidFill>
                <a:latin typeface="Calibri"/>
              </a:rPr>
              <a:t>Attach cost-benefit modelling using FHWA retrofit cost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61568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DeliverIQ · Severity Reality Check  ·  NST DVA Capstone 2  ·  Section-A · G12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156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11  ·  TEAM &amp; ARTEFACTS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Team G12 · Section A · DeliverIQ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TEAM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365760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Project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Shivam Mittal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194560"/>
            <a:ext cx="365760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28600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Data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6060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Satyam Kumar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94560"/>
            <a:ext cx="365760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ETL Lead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060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Keshav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46120"/>
            <a:ext cx="365760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3756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Analysis Lead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657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Mohit Singh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246120"/>
            <a:ext cx="365760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33756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Visualization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657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Prachee Dhar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246120"/>
            <a:ext cx="365760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333756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Strategy + PPT Lead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657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Rishita Boisnobi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ARTEFACTS  ·  GitHub  +  Tableau  +  Reports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46320"/>
            <a:ext cx="11064240" cy="1554480"/>
          </a:xfrm>
          <a:prstGeom prst="rect">
            <a:avLst/>
          </a:prstGeom>
          <a:solidFill>
            <a:srgbClr val="1E2761"/>
          </a:solidFill>
          <a:ln w="63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▸  GitHub Repo: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98348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github.com/shiavm006/Section-A_G12_DeliverIQ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8523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▸  Tableau Public: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528523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public.tableau.com/views/RoadAccidentDataofUSA_17773613139680/Dashboard1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6052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▸  Project Report: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60527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reports/project_report.pdf  (18 sections, ~22 pages)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92531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▸  This Deck: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592531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reports/presentation.pdf  (11 slides)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2453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Submitted Apr 29, 2026  ·  Newton School of Technology  ·  DVA Capstone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