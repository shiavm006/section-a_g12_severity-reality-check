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NST DVA  ·  CAPSTONE 2  ·  TRANSPORTATION &amp; PUBLIC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Severity Reality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Disentangling true accident severity from congestion,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time-of-day, and location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alibri"/>
              </a:rPr>
              <a:t>ANALYZING 95K US ROAD ACCIDENTS  ·  2016–2023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532120"/>
            <a:ext cx="10332720" cy="2286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Newton School of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Team: Shivam Mittal · Satyam · Members 3–7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  <a:latin typeface="Calibri"/>
              </a:rPr>
              <a:t>Mentor: &lt;fill&gt;   ·   Section: &lt;fill&gt;   ·   Team ID: &lt;fill&gt;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6235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GitHub:  github.com/&lt;team-handle&gt;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9436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Tableau:  public.tableau.com/&lt;dashboard&gt;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2179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  <a:latin typeface="Calibri"/>
              </a:rPr>
              <a:t>Submission: April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02  ·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Public severity data is widely used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96167"/>
                </a:solidFill>
                <a:latin typeface="Calibri"/>
              </a:rPr>
              <a:t>but it measures the wrong 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WHAT'S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E2761"/>
                </a:solidFill>
                <a:latin typeface="Calibri"/>
              </a:rPr>
              <a:t>■  </a:t>
            </a:r>
            <a:r>
              <a:rPr sz="1300">
                <a:solidFill>
                  <a:srgbClr val="1E293B"/>
                </a:solidFill>
                <a:latin typeface="Calibri"/>
              </a:rPr>
              <a:t>The most common severity field measures traffic-flow impact (short delay → long delay), not crash physical severity.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E2761"/>
                </a:solidFill>
                <a:latin typeface="Calibri"/>
              </a:rPr>
              <a:t>■  </a:t>
            </a:r>
            <a:r>
              <a:rPr sz="1300">
                <a:solidFill>
                  <a:srgbClr val="1E293B"/>
                </a:solidFill>
                <a:latin typeface="Calibri"/>
              </a:rPr>
              <a:t>A fender-bender at rush hour can register Severity 4. A fatal crash on a quiet road can register Severity 1.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1E2761"/>
                </a:solidFill>
                <a:latin typeface="Calibri"/>
              </a:rPr>
              <a:t>■  </a:t>
            </a:r>
            <a:r>
              <a:rPr sz="1300">
                <a:solidFill>
                  <a:srgbClr val="1E293B"/>
                </a:solidFill>
                <a:latin typeface="Calibri"/>
              </a:rPr>
              <a:t>Insurers, DOTs, and logistics planners use this field directly in pricing models, capital plans, and routing — silently absorbing the bias.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377440"/>
            <a:ext cx="5303520" cy="36576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606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OUR CORE 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01752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much of what's labeled "severe" in public US accident data is genuinely severe — and how should insurers, DOTs, and logistics planners adjust their decisions to use a bias-corrected signal?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5532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96167"/>
                </a:solidFill>
                <a:latin typeface="Calibri"/>
              </a:rPr>
              <a:t>→  Decision: down-weight raw severity in pricing,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5760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96167"/>
                </a:solidFill>
                <a:latin typeface="Calibri"/>
              </a:rPr>
              <a:t>    capital allocation, and corridor routing.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1568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Severity Reality Check  ·  NST DVA Capstone 2  ·  April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61568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03  · 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From 7.7M raw rows to a 95K balanced sample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ORIGINAL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423160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7.7M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raw Kaggle 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01168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1488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WORKING 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514600"/>
            <a:ext cx="2423160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96167"/>
                </a:solidFill>
                <a:latin typeface="Calibri"/>
              </a:rPr>
              <a:t>95,607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8803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balanced across Sev 1–4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1488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14600"/>
            <a:ext cx="2423160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803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incl. 13 derived features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2011680"/>
            <a:ext cx="26974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1488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STATES COVERED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514600"/>
            <a:ext cx="2423160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8803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6,800+ cities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CLEANING PIPELINE  (notebooks/02_cleaning.ipynb)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■  </a:t>
            </a:r>
            <a:r>
              <a:rPr sz="1200">
                <a:solidFill>
                  <a:srgbClr val="1E293B"/>
                </a:solidFill>
                <a:latin typeface="Calibri"/>
              </a:rPr>
              <a:t>Drop high-null + zero-variance columns (End_Lat/Lng, Country, Turning_Loop)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■  </a:t>
            </a:r>
            <a:r>
              <a:rPr sz="1200">
                <a:solidFill>
                  <a:srgbClr val="1E293B"/>
                </a:solidFill>
                <a:latin typeface="Calibri"/>
              </a:rPr>
              <a:t>Validate geographic bounds (lat 24–50, lng −125 to −66)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■  </a:t>
            </a:r>
            <a:r>
              <a:rPr sz="1200">
                <a:solidFill>
                  <a:srgbClr val="1E293B"/>
                </a:solidFill>
                <a:latin typeface="Calibri"/>
              </a:rPr>
              <a:t>Cap Distance_mi outliers at 99th percentile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■  </a:t>
            </a:r>
            <a:r>
              <a:rPr sz="1200">
                <a:solidFill>
                  <a:srgbClr val="1E293B"/>
                </a:solidFill>
                <a:latin typeface="Calibri"/>
              </a:rPr>
              <a:t>Context-aware imputation (median by State + Month + Hour)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■  </a:t>
            </a:r>
            <a:r>
              <a:rPr sz="1200">
                <a:solidFill>
                  <a:srgbClr val="1E293B"/>
                </a:solidFill>
                <a:latin typeface="Calibri"/>
              </a:rPr>
              <a:t>Cast booleans to int for Tableau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611880"/>
            <a:ext cx="5303520" cy="2743200"/>
          </a:xfrm>
          <a:prstGeom prst="rect">
            <a:avLst/>
          </a:prstGeom>
          <a:solidFill>
            <a:srgbClr val="F1F5F9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74903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KEY DERIVED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160520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Severity_Label · Weather_Category · State_Region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Time_of_Day · Season · Is_Rush_Hour · Is_Weekend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Duration_min · Road_Feature_Count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Is True Severe = Sev=4 AND Distance ≥ 0.5 mi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1568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Severity Reality Check  ·  NST DVA Capstone 2  ·  April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61568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04  ·  KPI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15 decision-relevant KPIs across 3 dashboards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65760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576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D1 — Severity Reality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the 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32918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Total Accidents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Nominal Severe (Sev 4)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True Severe (Sev 4 + Dist ≥ 0.5 mi)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True Severe %  ← headline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Avg Duration of Severe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65760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657600" cy="4572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7451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D2 — When &amp; 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the diagnosis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97480"/>
            <a:ext cx="32918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F96167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Worst Season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96167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Peak Risk Hour  (12 AM, not rush hour)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96167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Top State by True Severe  (PA, not CA)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96167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Weekend vs Weekday Δ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F96167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Cities Tracked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65760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6576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7451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D3 —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77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the cause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97480"/>
            <a:ext cx="32918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Riskiest Weather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Junction Lift  (+0.2–0.5 pts)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Signal Drop  (≈0.4 pts)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Avg Visibility During Severe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Night Severe Share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1568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Severity Reality Check  ·  NST DVA Capstone 2  ·  April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61568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05  ·  KEY EDA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Five observations that reframe the data</a:t>
            </a:r>
          </a:p>
        </p:txBody>
      </p:sp>
      <p:pic>
        <p:nvPicPr>
          <p:cNvPr id="5" name="Picture 4" descr="severity_rush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20240"/>
            <a:ext cx="484632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57607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Severity proportions: Rush Hour vs Non-Rush — barely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1264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1E2761"/>
                </a:solidFill>
                <a:latin typeface="Calibri"/>
              </a:rPr>
              <a:t>■  </a:t>
            </a:r>
            <a:r>
              <a:rPr sz="1300">
                <a:solidFill>
                  <a:srgbClr val="1E293B"/>
                </a:solidFill>
                <a:latin typeface="Calibri"/>
              </a:rPr>
              <a:t>Severity-2 dominance dropped after balanced sampling — every tier now has enough N for cross-tier comparison.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E2761"/>
                </a:solidFill>
                <a:latin typeface="Calibri"/>
              </a:rPr>
              <a:t>■  </a:t>
            </a:r>
            <a:r>
              <a:rPr sz="1300">
                <a:solidFill>
                  <a:srgbClr val="1E293B"/>
                </a:solidFill>
                <a:latin typeface="Calibri"/>
              </a:rPr>
              <a:t>Volume peaks at 5 PM rush hour — but per-accident severity is barely different between rush and non-rush.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E2761"/>
                </a:solidFill>
                <a:latin typeface="Calibri"/>
              </a:rPr>
              <a:t>■  </a:t>
            </a:r>
            <a:r>
              <a:rPr sz="1300">
                <a:solidFill>
                  <a:srgbClr val="1E293B"/>
                </a:solidFill>
                <a:latin typeface="Calibri"/>
              </a:rPr>
              <a:t>Weekday volume rises Tue–Wed, falls weekend. Severity does not follow the same curve.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E2761"/>
                </a:solidFill>
                <a:latin typeface="Calibri"/>
              </a:rPr>
              <a:t>■  </a:t>
            </a:r>
            <a:r>
              <a:rPr sz="1300">
                <a:solidFill>
                  <a:srgbClr val="1E293B"/>
                </a:solidFill>
                <a:latin typeface="Calibri"/>
              </a:rPr>
              <a:t>Top-volume states: CA, FL, TX. Top True-Severe state: PA — geography differs once bias is corrected.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1E2761"/>
                </a:solidFill>
                <a:latin typeface="Calibri"/>
              </a:rPr>
              <a:t>■  </a:t>
            </a:r>
            <a:r>
              <a:rPr sz="1300">
                <a:solidFill>
                  <a:srgbClr val="1E293B"/>
                </a:solidFill>
                <a:latin typeface="Calibri"/>
              </a:rPr>
              <a:t>Most accidents happen in fair weather. Severe accidents are no exception.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61568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Severity Reality Check  ·  NST DVA Capstone 2  ·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61568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06  ·  ADVANCED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Statistical tests aligned with the bias 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09728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Test 1 — Congestion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68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Method:  Chi-square (Rush Hour × Severity)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3464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Significant by N, but proportions barely shift. Rush-hour volume is NOT the dominant severity driver.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92024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920240"/>
            <a:ext cx="109728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Test 2 — Duration × Severity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Method:  Kruskal-Wallis H (non-parametric)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3464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Median duration rises monotonically: Sev 1 ≈ 30 min → Sev 4 ≈ 210 min. Validates True-Severe definition.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109728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977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Test 3 — Weather ×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389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Method:  Chi-square (top 5 weather × Sev)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7548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Statistically significant but small effect size. Weather is NOT the primary driver of severity.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840480"/>
            <a:ext cx="54864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840480"/>
            <a:ext cx="109728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977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Test 4 — Location Bias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389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Method:  State × Severity cross-tab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7548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PA, WY, MT, NY over-represented in Sev 3+4. Reporting bias is real and must be corrected.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852160"/>
            <a:ext cx="11109960" cy="59436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9436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Net finding:  Severity in this dataset is partly real, partly noise. The True-Severe filter (Sev 4 + Dist ≥ 0.5 mi) cleanly separates them.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1568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Severity Reality Check  ·  NST DVA Capstone 2  ·  April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61568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07  ·  TABLEAU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Three dashboards, one narrative: What → When/Where →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65760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576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DASHBOARD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Severity Reality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KPI STRIP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Total · Nominal Severe · True Severe · True Severe % · Avg Severe 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Severity Donut · Nominal vs True Severe · Rush Hour Comparison · Hourly Severity Trend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65760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657600" cy="5029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7451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DASHBOARD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214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When &amp; 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KPI STRIP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432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Worst Season · Peak Risk Hour · Top State by True Severe · Weekend vs Weekday Δ · Cities Tracked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206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CHARTS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48056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Day × Hour Heatmap · Top 12 States · Time-of-Day Severity Bar · Region Comparison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828800"/>
            <a:ext cx="365760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828800"/>
            <a:ext cx="36576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874519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DASHBOARD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1214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Conditions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KPI STRIP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7432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Riskiest Weather · Junction Lift · Signal Drop · Avg Visibility During Severe · Night Severe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206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CHARTS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80560"/>
            <a:ext cx="3291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Weather × Severity · Visibility Bucket × Severity · Road Feature Lifts · Temp × Sev by Season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6+ interactive filters across dashboards: Severity · State · Year · Time-of-Day · Season · Weather · Visibility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61568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Severity Reality Check  ·  NST DVA Capstone 2  ·  April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61568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08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Five actions, each tied to an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411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92807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92807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STAKEHOLDER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9280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892807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EXPECTED 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1106424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39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96167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23160"/>
            <a:ext cx="23774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Insurer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423160"/>
            <a:ext cx="502920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Discount publicly-reported Severity 4 by ~50%; switch to True-Severe-based pricing input.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423160"/>
            <a:ext cx="23774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  <a:latin typeface="Calibri"/>
              </a:rPr>
              <a:t>Mis-priced urban-policy margin recovered; more accurate risk-tier pricing.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54679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96167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200400"/>
            <a:ext cx="23774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State DOT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200400"/>
            <a:ext cx="502920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Prioritize signal installations at top-N junction hotspots (from D3).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200400"/>
            <a:ext cx="23774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  <a:latin typeface="Calibri"/>
              </a:rPr>
              <a:t>≈ 0.4 pts severity reduction per retrofit corridor; measurable per-signal ROI.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86200"/>
            <a:ext cx="1106424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31920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96167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977639"/>
            <a:ext cx="23774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Logistics fleet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977639"/>
            <a:ext cx="502920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Re-rank corridors by True-Severe Index; shift dispatch off PA + winter night windows.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977639"/>
            <a:ext cx="23774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  <a:latin typeface="Calibri"/>
              </a:rPr>
              <a:t>Lower expected claim frequency and severity per million route-miles.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6344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09159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96167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754879"/>
            <a:ext cx="23774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Infrastructure planner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754879"/>
            <a:ext cx="502920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Rebalance away from visibility-only spend; invest in junction redesigns + signal coverage.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754879"/>
            <a:ext cx="23774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  <a:latin typeface="Calibri"/>
              </a:rPr>
              <a:t>2–3× improvement in $/severity-point reduction vs visibility-only.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440679"/>
            <a:ext cx="1106424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486399"/>
            <a:ext cx="914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96167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5532119"/>
            <a:ext cx="23774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Federal grants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5532119"/>
            <a:ext cx="502920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Reweight per-state safety allocation using True-Severe counts, not raw volume.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5532119"/>
            <a:ext cx="23774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  <a:latin typeface="Calibri"/>
              </a:rPr>
              <a:t>Capital tracks real severity outcomes, not reporting frequency.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61568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Severity Reality Check  ·  NST DVA Capstone 2  ·  April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61568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09  ·  IMPACT &amp;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Why this work pays off — directional estimates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657600" cy="228600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ADCFC"/>
                </a:solidFill>
                <a:latin typeface="Calibri"/>
              </a:rPr>
              <a:t>INSURER  ·  REC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96167"/>
                </a:solidFill>
                <a:latin typeface="Calibri"/>
              </a:rPr>
              <a:t>~50%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Calibri"/>
              </a:rPr>
              <a:t>of Severity-4 in pricing models is over-weighted; bias-correction unlocks ~$100M risk-adj. premium reallocation per $10B book.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STATE DOT  ·  REC #2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E2761"/>
                </a:solidFill>
                <a:latin typeface="Calibri"/>
              </a:rPr>
              <a:t>−0.4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461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average severity reduction at junctions retrofitted with traffic signals — quantifiable per-installation ROI.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011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FLEETS  ·  REC #3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774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E2761"/>
                </a:solidFill>
                <a:latin typeface="Calibri"/>
              </a:rPr>
              <a:t>5–10%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2461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expected reduction in severe-corridor exposure when routing on True-Severe Index instead of raw volume.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WHY ACT NOW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006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■  </a:t>
            </a:r>
            <a:r>
              <a:rPr sz="1200">
                <a:solidFill>
                  <a:srgbClr val="1E293B"/>
                </a:solidFill>
                <a:latin typeface="Calibri"/>
              </a:rPr>
              <a:t>Real-time accident APIs increasingly feed pricing engines — bias compounds quickly.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■  </a:t>
            </a:r>
            <a:r>
              <a:rPr sz="1200">
                <a:solidFill>
                  <a:srgbClr val="1E293B"/>
                </a:solidFill>
                <a:latin typeface="Calibri"/>
              </a:rPr>
              <a:t>Post-COVID vehicle-miles-traveled have rebounded; more decisions flow through the same biased input.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■  </a:t>
            </a:r>
            <a:r>
              <a:rPr sz="1200">
                <a:solidFill>
                  <a:srgbClr val="1E293B"/>
                </a:solidFill>
                <a:latin typeface="Calibri"/>
              </a:rPr>
              <a:t>Signal Drop is one of the most cost-effective infrastructure levers — and the data quantifies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61568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Severity Reality Check  ·  NST DVA Capstone 2  ·  April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61568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10  ·  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Honesty about what this analysis can and cannot 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96167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5486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Severity is a flow-impact label, not a crash-injury label — True Severe is a proxy.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0.5-mi threshold is defensible but not absolute; sensitivity tested at 0.25 and 1.0 mi.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All findings are correlational, not causal.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API coverage varies by state; 2020+ volume spike is partly an artifact.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No injury / fatality outcomes available in this dataset.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Balanced sample changes base rates — most KPIs use ratios to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40280"/>
            <a:ext cx="5486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Join FARS / state crash records to validate True-Severe against real injury data.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Add quasi-experimental causal layer for Signal Drop estimate.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Wrap corrected severity index as a real-time API for fleets and insurers.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Train a gradient-boosted classifier on incoming reports (predict True Severe at intake).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Geospatial drill-down map (Mapbox / Leaflet) for DOT use.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■  </a:t>
            </a:r>
            <a:r>
              <a:rPr sz="1100">
                <a:solidFill>
                  <a:srgbClr val="1E293B"/>
                </a:solidFill>
                <a:latin typeface="Calibri"/>
              </a:rPr>
              <a:t>Attach cost-benefit modelling using FHWA retrofit cost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1568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Severity Reality Check  ·  NST DVA Capstone 2  ·  April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61568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11  ·  TEAM &amp; ARTEFACTS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Built by Team — every member contributed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TEAM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40280"/>
            <a:ext cx="269748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Project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Shivam Mittal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240280"/>
            <a:ext cx="269748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331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Data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517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Satyam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40280"/>
            <a:ext cx="269748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ETL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&lt;Member 3&gt;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2240280"/>
            <a:ext cx="269748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2331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Analysis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6517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&lt;Member 4&gt;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269748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918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Visualization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118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&lt;Member 5&gt;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200400"/>
            <a:ext cx="269748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2918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Strategy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6118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&lt;Member 6&gt;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269748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2918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PPT &amp; Quality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61188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&lt;Member 7&gt;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ARTEFACTS  ·  github + tableau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709160"/>
            <a:ext cx="11064240" cy="1554480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▸  GitHub Repo: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84632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github.com/&lt;team-handle&gt;  (5 notebooks · ETL pipeline · 3 dashboards · report + deck)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166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▸  Tableau Public: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516636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public.tableau.com/&lt;dashboard&gt;  (3 views · 30+ worksheets · 6+ filters)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▸  Project Report: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54864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reports/project_report.pdf  (18 sections, ~22 pages)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806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▸  This Deck: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580644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reports/presentation.pdf  (11 slides)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1568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Severity Reality Check  ·  NST DVA Capstone 2  ·  April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61568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